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5" r:id="rId3"/>
    <p:sldId id="274" r:id="rId4"/>
    <p:sldId id="272" r:id="rId5"/>
    <p:sldId id="259" r:id="rId6"/>
    <p:sldId id="260" r:id="rId7"/>
    <p:sldId id="261" r:id="rId8"/>
    <p:sldId id="267" r:id="rId9"/>
    <p:sldId id="276" r:id="rId10"/>
    <p:sldId id="27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HlVAlGQ51m6ij21Sgkk00K77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66FF"/>
    <a:srgbClr val="C0F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E89211-1C9E-483B-B47E-C003B751D1CA}">
  <a:tblStyle styleId="{68E89211-1C9E-483B-B47E-C003B751D1C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77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На 2023 год в России</a:t>
            </a:r>
          </a:p>
        </c:rich>
      </c:tx>
      <c:layout>
        <c:manualLayout>
          <c:xMode val="edge"/>
          <c:yMode val="edge"/>
          <c:x val="0.19817618156478928"/>
          <c:y val="0.1074047357484150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0213131627173173"/>
          <c:y val="0.27477937672891878"/>
          <c:w val="0.40055426388773563"/>
          <c:h val="0.68636131258851407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889898406678398"/>
          <c:y val="0.40124109896364141"/>
          <c:w val="0.28098659068570181"/>
          <c:h val="0.346294984977433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586817782460032"/>
          <c:y val="3.068581354674265E-2"/>
          <c:w val="0.40355425497797476"/>
          <c:h val="0.770940759205524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75402636163639258"/>
          <c:y val="0.32191471453784637"/>
          <c:w val="0.18812097126447694"/>
          <c:h val="0.194441780365361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586817782460032"/>
          <c:y val="3.068581354674265E-2"/>
          <c:w val="0.40355425497797476"/>
          <c:h val="0.770940759205524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75402636163639258"/>
          <c:y val="0.32191471453784637"/>
          <c:w val="0.18812097126447694"/>
          <c:h val="0.194441780365361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27:40.5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24575,'2'27'0,"1"-1"0,1 1 0,1-1 0,2 0 0,0 0 0,2-1 0,13 28 0,-15-37 0,0-1 0,1 0 0,17 23 0,-25-37 0,1 0 0,0 1 0,1-1 0,-1 0 0,0 1 0,0-1 0,1 0 0,-1 0 0,0 0 0,1 0 0,-1 0 0,1-1 0,-1 1 0,1 0 0,0-1 0,-1 1 0,1-1 0,0 0 0,-1 1 0,1-1 0,0 0 0,-1 0 0,1 0 0,0 0 0,-1 0 0,1 0 0,0-1 0,-1 1 0,1 0 0,3-2 0,-2 0 0,0 0 0,0 0 0,-1 0 0,1 0 0,0 0 0,-1-1 0,0 1 0,1-1 0,-1 0 0,0 1 0,0-1 0,-1 0 0,1 0 0,2-5 0,11-40 0,-7 20 0,-7 25 0,0 1 0,0-1 0,0 1 0,1 0 0,-1-1 0,1 1 0,-1 0 0,1 0 0,0 0 0,0 0 0,0 0 0,0 1 0,0-1 0,1 1 0,-1-1 0,0 1 0,1 0 0,-1 0 0,1 0 0,-1 0 0,1 0 0,0 0 0,-1 1 0,5-1 0,7-1 0,0 2 0,1-1 0,21 3 0,-11 0 0,245 0-67,-178-2-1231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68513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000"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7167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51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sz="1000"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7167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000"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7167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hart" Target="../charts/chart2.xml"/><Relationship Id="rId10" Type="http://schemas.openxmlformats.org/officeDocument/2006/relationships/image" Target="../media/image10.png"/><Relationship Id="rId4" Type="http://schemas.openxmlformats.org/officeDocument/2006/relationships/chart" Target="../charts/chart1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chart" Target="../charts/chart3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17503" y="1098987"/>
            <a:ext cx="11202900" cy="3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br>
              <a:rPr lang="ru-RU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499279" y="4688375"/>
            <a:ext cx="5895621" cy="19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ФИО</a:t>
            </a:r>
            <a:r>
              <a:rPr lang="ru-RU" sz="1800" dirty="0"/>
              <a:t>: Варламова Анна Борисовна</a:t>
            </a:r>
            <a:endParaRPr sz="1800" dirty="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Группа</a:t>
            </a:r>
            <a:r>
              <a:rPr lang="ru-RU" sz="1800" dirty="0"/>
              <a:t>: М8О-209СВ-24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Руководитель проекта</a:t>
            </a:r>
            <a:r>
              <a:rPr lang="ru-RU" sz="1800" dirty="0"/>
              <a:t>: Сошников Дмитрий Валерьевич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dirty="0"/>
              <a:t>кандидат физико-математических наук, доцент </a:t>
            </a:r>
            <a:endParaRPr dirty="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600" y="480475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422775" y="480475"/>
            <a:ext cx="9405000" cy="14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Московский авиационный институт (национальный исследовательский институт)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662900" y="2122425"/>
            <a:ext cx="9732000" cy="16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Выпускная квалификационная работа на тему:</a:t>
            </a:r>
            <a:endParaRPr sz="25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2500"/>
            </a:pPr>
            <a:r>
              <a:rPr lang="ru-RU" sz="2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ru-RU" sz="2800" dirty="0"/>
              <a:t>Разработка системы подбора выкроек и конструктивных элементов одежды по изображению</a:t>
            </a:r>
            <a:r>
              <a:rPr lang="ru-RU" sz="25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462750" y="6234350"/>
            <a:ext cx="28020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Москва - 2025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43630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 b="1">
                <a:solidFill>
                  <a:schemeClr val="lt1"/>
                </a:solidFill>
              </a:rPr>
              <a:t>Цели и задачи работы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838200" y="326574"/>
            <a:ext cx="107898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endParaRPr sz="4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072" y="445650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5D3D3-4DA4-EAAF-F218-F87DCA1C80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smtClean="0">
                <a:solidFill>
                  <a:schemeClr val="tx1"/>
                </a:solidFill>
              </a:rPr>
              <a:t>2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396" y="2196689"/>
            <a:ext cx="3867503" cy="1986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899" y="2230438"/>
            <a:ext cx="3811349" cy="1953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395" y="4183611"/>
            <a:ext cx="3811259" cy="195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899" y="4183611"/>
            <a:ext cx="3818264" cy="1969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79427" y="1867385"/>
            <a:ext cx="5540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Поиск похожей выкройки среди огромного количества моделей </a:t>
            </a:r>
          </a:p>
        </p:txBody>
      </p:sp>
    </p:spTree>
    <p:extLst>
      <p:ext uri="{BB962C8B-B14F-4D97-AF65-F5344CB8AC3E}">
        <p14:creationId xmlns:p14="http://schemas.microsoft.com/office/powerpoint/2010/main" val="357114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43630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 b="1">
                <a:solidFill>
                  <a:schemeClr val="lt1"/>
                </a:solidFill>
              </a:rPr>
              <a:t>Цели и задачи работы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838200" y="326574"/>
            <a:ext cx="107898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endParaRPr sz="4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072" y="445650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5D3D3-4DA4-EAAF-F218-F87DCA1C80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smtClean="0">
                <a:solidFill>
                  <a:schemeClr val="tx1"/>
                </a:solidFill>
              </a:rPr>
              <a:t>3</a:t>
            </a:fld>
            <a:endParaRPr lang="ru-RU" sz="1800" dirty="0">
              <a:solidFill>
                <a:schemeClr val="tx1"/>
              </a:solidFill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A525ED74-C20F-6AF4-62A3-243F049AD4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6587673"/>
              </p:ext>
            </p:extLst>
          </p:nvPr>
        </p:nvGraphicFramePr>
        <p:xfrm>
          <a:off x="1796234" y="1562546"/>
          <a:ext cx="4142792" cy="2417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A1D41927-F695-66CA-DD18-57E4BE31DE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8580793"/>
              </p:ext>
            </p:extLst>
          </p:nvPr>
        </p:nvGraphicFramePr>
        <p:xfrm>
          <a:off x="5939026" y="4682782"/>
          <a:ext cx="5002345" cy="2512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98" y="4109331"/>
            <a:ext cx="2429186" cy="2237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597" y="3989372"/>
            <a:ext cx="2568636" cy="235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298" y="3953336"/>
            <a:ext cx="2735415" cy="2536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90" y="2101350"/>
            <a:ext cx="6202362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100" y="2101350"/>
            <a:ext cx="5840412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4072" y="3420979"/>
            <a:ext cx="11202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Среди форумов, где Вас отправляют учиться на модельера или конструктора, нашелся онлайн генератор выкроек</a:t>
            </a:r>
          </a:p>
        </p:txBody>
      </p:sp>
    </p:spTree>
    <p:extLst>
      <p:ext uri="{BB962C8B-B14F-4D97-AF65-F5344CB8AC3E}">
        <p14:creationId xmlns:p14="http://schemas.microsoft.com/office/powerpoint/2010/main" val="3075764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43630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 b="1">
                <a:solidFill>
                  <a:schemeClr val="lt1"/>
                </a:solidFill>
              </a:rPr>
              <a:t>Цели и задачи работы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838200" y="326574"/>
            <a:ext cx="107898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endParaRPr sz="4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072" y="445650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5D3D3-4DA4-EAAF-F218-F87DCA1C80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smtClean="0">
                <a:solidFill>
                  <a:schemeClr val="tx1"/>
                </a:solidFill>
              </a:rPr>
              <a:t>4</a:t>
            </a:fld>
            <a:endParaRPr lang="ru-RU" sz="1800" dirty="0">
              <a:solidFill>
                <a:schemeClr val="tx1"/>
              </a:solidFill>
            </a:endParaRPr>
          </a:p>
        </p:txBody>
      </p:sp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A1D41927-F695-66CA-DD18-57E4BE31DE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517152"/>
              </p:ext>
            </p:extLst>
          </p:nvPr>
        </p:nvGraphicFramePr>
        <p:xfrm>
          <a:off x="5939026" y="4682782"/>
          <a:ext cx="5002345" cy="2512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167" y="4086028"/>
            <a:ext cx="49911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193" y="5228902"/>
            <a:ext cx="9726612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349" y="4187796"/>
            <a:ext cx="9783762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24" y="2952806"/>
            <a:ext cx="7697788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97395" y="1647996"/>
            <a:ext cx="2876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7030A0"/>
                </a:solidFill>
              </a:rPr>
              <a:t>Это был розыгрыш на 1 апреля!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556" y="2021274"/>
            <a:ext cx="677386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53"/>
          <a:stretch/>
        </p:blipFill>
        <p:spPr bwMode="auto">
          <a:xfrm>
            <a:off x="2102001" y="2092640"/>
            <a:ext cx="2581275" cy="105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62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838200" y="43630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 b="1">
                <a:solidFill>
                  <a:schemeClr val="lt1"/>
                </a:solidFill>
              </a:rPr>
              <a:t>Цели и задачи работы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1267335" y="2257969"/>
            <a:ext cx="10401379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Цель: </a:t>
            </a:r>
            <a:r>
              <a:rPr lang="ru-RU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Упрощение и ускорение конструирования лекал изделий, используя фотографии одежды</a:t>
            </a:r>
            <a:endParaRPr lang="ru-RU" sz="2400" dirty="0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Данные:</a:t>
            </a:r>
            <a:endParaRPr lang="en-US" sz="2400" b="1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400" dirty="0">
                <a:solidFill>
                  <a:srgbClr val="000000"/>
                </a:solidFill>
              </a:rPr>
              <a:t>Выкройки и инструкции по их построению для моделей одежды и деталей</a:t>
            </a:r>
          </a:p>
          <a:p>
            <a:pPr marL="342900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400" dirty="0">
                <a:solidFill>
                  <a:srgbClr val="000000"/>
                </a:solidFill>
              </a:rPr>
              <a:t>Примеров на каждую деталь/модель много не будет -</a:t>
            </a:r>
            <a:r>
              <a:rPr lang="en-US" sz="2400" dirty="0">
                <a:solidFill>
                  <a:srgbClr val="000000"/>
                </a:solidFill>
              </a:rPr>
              <a:t>&gt; </a:t>
            </a:r>
            <a:r>
              <a:rPr lang="ru-RU" sz="2400" dirty="0">
                <a:solidFill>
                  <a:srgbClr val="000000"/>
                </a:solidFill>
              </a:rPr>
              <a:t>НЕ классификация</a:t>
            </a:r>
          </a:p>
          <a:p>
            <a:pPr marL="342900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400" dirty="0">
                <a:solidFill>
                  <a:srgbClr val="000000"/>
                </a:solidFill>
              </a:rPr>
              <a:t>Ресурсы: сайты с бесплатными выкройками, книги для портных с деталями</a:t>
            </a:r>
          </a:p>
          <a:p>
            <a:pPr marL="342900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400" dirty="0">
                <a:solidFill>
                  <a:srgbClr val="000000"/>
                </a:solidFill>
              </a:rPr>
              <a:t>Структура данных:</a:t>
            </a:r>
          </a:p>
          <a:p>
            <a:pPr marL="800100" lvl="1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000" dirty="0">
                <a:solidFill>
                  <a:srgbClr val="000000"/>
                </a:solidFill>
              </a:rPr>
              <a:t>Фото изделия/детали в изделии</a:t>
            </a:r>
          </a:p>
          <a:p>
            <a:pPr marL="800100" lvl="1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000" dirty="0">
                <a:solidFill>
                  <a:srgbClr val="000000"/>
                </a:solidFill>
              </a:rPr>
              <a:t>Тэги</a:t>
            </a:r>
          </a:p>
          <a:p>
            <a:pPr marL="800100" lvl="1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000" dirty="0">
                <a:solidFill>
                  <a:srgbClr val="000000"/>
                </a:solidFill>
              </a:rPr>
              <a:t>Текстовое описание</a:t>
            </a:r>
          </a:p>
          <a:p>
            <a:pPr marL="800100" lvl="1" algn="just">
              <a:lnSpc>
                <a:spcPct val="115000"/>
              </a:lnSpc>
              <a:spcBef>
                <a:spcPts val="0"/>
              </a:spcBef>
              <a:buSzPts val="1100"/>
            </a:pPr>
            <a:r>
              <a:rPr lang="ru-RU" sz="2000" dirty="0">
                <a:solidFill>
                  <a:srgbClr val="000000"/>
                </a:solidFill>
              </a:rPr>
              <a:t>Инструкции и схемы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9366587" y="3900964"/>
            <a:ext cx="2461213" cy="148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15400" y="320125"/>
            <a:ext cx="107898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Цель и данные</a:t>
            </a:r>
            <a:endParaRPr sz="4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75" y="339625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D9EB1EC-892F-78CB-478E-5FCA9557F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smtClean="0">
                <a:solidFill>
                  <a:schemeClr val="tx1"/>
                </a:solidFill>
              </a:rPr>
              <a:t>5</a:t>
            </a:fld>
            <a:endParaRPr lang="ru-RU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51055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b="1" dirty="0"/>
              <a:t>Задачи работы</a:t>
            </a:r>
            <a:endParaRPr b="1" dirty="0"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1"/>
          </p:nvPr>
        </p:nvSpPr>
        <p:spPr>
          <a:xfrm>
            <a:off x="1893536" y="2153275"/>
            <a:ext cx="9629713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Обосновать выбор методов поиска релевантных моделей/деталей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Полуавтоматически извлечь данные и разметить их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Подобрать метрики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Опробовать модели соответствующих методов для сопоставления паттернов одежды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Оптимизировать </a:t>
            </a:r>
            <a:r>
              <a:rPr lang="ru-RU" sz="2400" dirty="0" err="1">
                <a:solidFill>
                  <a:srgbClr val="000000"/>
                </a:solidFill>
              </a:rPr>
              <a:t>гиперпараметры</a:t>
            </a:r>
            <a:r>
              <a:rPr lang="ru-RU" sz="2400" dirty="0">
                <a:solidFill>
                  <a:srgbClr val="000000"/>
                </a:solidFill>
              </a:rPr>
              <a:t> и по метрикам выбрать модель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Реализовать </a:t>
            </a:r>
            <a:r>
              <a:rPr lang="ru-RU" sz="2400" dirty="0" err="1">
                <a:solidFill>
                  <a:srgbClr val="000000"/>
                </a:solidFill>
              </a:rPr>
              <a:t>пайплайн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инференса</a:t>
            </a:r>
            <a:endParaRPr sz="2400" dirty="0"/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100" y="288400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D68998-F037-FB12-E7D1-6B0A06E21E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89625" y="5571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b="1" dirty="0"/>
              <a:t>Образ результата</a:t>
            </a:r>
            <a:endParaRPr b="1" dirty="0"/>
          </a:p>
        </p:txBody>
      </p:sp>
      <p:sp>
        <p:nvSpPr>
          <p:cNvPr id="127" name="Google Shape;127;p4"/>
          <p:cNvSpPr txBox="1">
            <a:spLocks noGrp="1"/>
          </p:cNvSpPr>
          <p:nvPr>
            <p:ph type="body" idx="1"/>
          </p:nvPr>
        </p:nvSpPr>
        <p:spPr>
          <a:xfrm>
            <a:off x="876300" y="2209775"/>
            <a:ext cx="10439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Из входного изображения получаем выкройку/набор деталей с описанием, как каждую строить</a:t>
            </a:r>
            <a:endParaRPr dirty="0"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75" y="339625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BF23BAA-E003-5539-31EA-C11E095710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963" y="3520597"/>
            <a:ext cx="1066800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003" y="3799043"/>
            <a:ext cx="2579265" cy="211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4361607" y="4715984"/>
            <a:ext cx="117334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BEA24-13F5-363A-5491-AFC20E8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6"/>
            <a:ext cx="10515600" cy="708830"/>
          </a:xfrm>
        </p:spPr>
        <p:txBody>
          <a:bodyPr/>
          <a:lstStyle/>
          <a:p>
            <a:pPr algn="ctr"/>
            <a:r>
              <a:rPr lang="ru-RU" dirty="0"/>
              <a:t>Аналоги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84349E-7AB9-4EAF-D41A-F1DABDB7E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8873" y="2118574"/>
            <a:ext cx="3116907" cy="362694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2400" dirty="0"/>
              <a:t>Эти инструменты разбивают на лекала вещь, но качество </a:t>
            </a:r>
            <a:r>
              <a:rPr lang="ru-RU" sz="2400" dirty="0" err="1"/>
              <a:t>неудовлетвори</a:t>
            </a:r>
            <a:r>
              <a:rPr lang="ru-RU" sz="2400" dirty="0"/>
              <a:t>-тельное</a:t>
            </a:r>
          </a:p>
          <a:p>
            <a:pPr marL="114300" indent="0">
              <a:buNone/>
            </a:pPr>
            <a:endParaRPr lang="ru-RU" sz="2400" dirty="0"/>
          </a:p>
          <a:p>
            <a:pPr marL="114300" indent="0">
              <a:buNone/>
            </a:pPr>
            <a:r>
              <a:rPr lang="ru-RU" sz="2400" dirty="0"/>
              <a:t>Их не перенесёшь в 2д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6DB01A-86E3-AE61-2A58-7C207DAE97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39CAF-8DDE-61C5-4FD2-2B1324F90268}"/>
              </a:ext>
            </a:extLst>
          </p:cNvPr>
          <p:cNvSpPr txBox="1"/>
          <p:nvPr/>
        </p:nvSpPr>
        <p:spPr>
          <a:xfrm>
            <a:off x="11277600" y="641369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10D04E-3DB3-9B1B-4F38-D14BA3C0E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65" y="891236"/>
            <a:ext cx="8049735" cy="5830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CF99DB-3301-02C2-C1AD-EE480713F78B}"/>
              </a:ext>
            </a:extLst>
          </p:cNvPr>
          <p:cNvSpPr txBox="1"/>
          <p:nvPr/>
        </p:nvSpPr>
        <p:spPr>
          <a:xfrm>
            <a:off x="3549203" y="5899964"/>
            <a:ext cx="1248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Chatgarment</a:t>
            </a:r>
            <a:endParaRPr lang="ru-RU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F25977FF-98C8-BE25-E6FC-982EDEDA0CC4}"/>
                  </a:ext>
                </a:extLst>
              </p14:cNvPr>
              <p14:cNvContentPartPr/>
              <p14:nvPr/>
            </p14:nvContentPartPr>
            <p14:xfrm>
              <a:off x="3811913" y="6226808"/>
              <a:ext cx="264960" cy="122040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F25977FF-98C8-BE25-E6FC-982EDEDA0C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8913" y="6163808"/>
                <a:ext cx="390600" cy="24768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Google Shape;128;p4">
            <a:extLst>
              <a:ext uri="{FF2B5EF4-FFF2-40B4-BE49-F238E27FC236}">
                <a16:creationId xmlns:a16="http://schemas.microsoft.com/office/drawing/2014/main" id="{355688B6-4AAC-2FAE-98CE-B2803E157A8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675" y="339625"/>
            <a:ext cx="1693323" cy="1655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448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 </a:t>
            </a:r>
            <a:r>
              <a:rPr lang="ru-RU" dirty="0"/>
              <a:t>для выделения паттернов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84" y="2667351"/>
            <a:ext cx="1658023" cy="2810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41" y="1531376"/>
            <a:ext cx="414337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485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168B82-31EA-8095-5673-8C6EF0FA0C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744C143-8ACF-AC11-94A1-7AF47848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/>
              <a:t>Методы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564" y="1642582"/>
            <a:ext cx="8116480" cy="4704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935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255</Words>
  <Application>Microsoft Office PowerPoint</Application>
  <PresentationFormat>Широкоэкранный</PresentationFormat>
  <Paragraphs>58</Paragraphs>
  <Slides>10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Тема Office</vt:lpstr>
      <vt:lpstr> </vt:lpstr>
      <vt:lpstr>Цели и задачи работы</vt:lpstr>
      <vt:lpstr>Цели и задачи работы</vt:lpstr>
      <vt:lpstr>Цели и задачи работы</vt:lpstr>
      <vt:lpstr>Цели и задачи работы</vt:lpstr>
      <vt:lpstr>Задачи работы</vt:lpstr>
      <vt:lpstr>Образ результата</vt:lpstr>
      <vt:lpstr>Аналоги</vt:lpstr>
      <vt:lpstr>ChatGPT для выделения паттернов</vt:lpstr>
      <vt:lpstr>Методы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cp:lastModifiedBy>Anna Varlamova</cp:lastModifiedBy>
  <cp:revision>30</cp:revision>
  <dcterms:modified xsi:type="dcterms:W3CDTF">2025-12-24T15:58:15Z</dcterms:modified>
</cp:coreProperties>
</file>